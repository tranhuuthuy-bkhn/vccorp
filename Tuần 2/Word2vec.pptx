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61" r:id="rId5"/>
    <p:sldId id="274" r:id="rId6"/>
    <p:sldId id="263" r:id="rId7"/>
    <p:sldId id="265" r:id="rId8"/>
    <p:sldId id="266" r:id="rId9"/>
    <p:sldId id="267" r:id="rId10"/>
    <p:sldId id="271" r:id="rId11"/>
    <p:sldId id="269" r:id="rId12"/>
    <p:sldId id="272" r:id="rId13"/>
    <p:sldId id="273" r:id="rId14"/>
    <p:sldId id="275" r:id="rId15"/>
    <p:sldId id="277" r:id="rId16"/>
    <p:sldId id="278" r:id="rId17"/>
    <p:sldId id="25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76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15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C6E69-97AB-4B35-AA6F-D7C26E5B5644}" type="datetimeFigureOut">
              <a:rPr lang="en-US" smtClean="0"/>
              <a:t>2/21/2020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9DCD5-EF07-40FB-BCD1-5763EA9616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11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9DCD5-EF07-40FB-BCD1-5763EA9616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3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538287"/>
            <a:ext cx="6858000" cy="2387600"/>
          </a:xfrm>
        </p:spPr>
        <p:txBody>
          <a:bodyPr anchor="b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subtitle style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132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4255-8115-407B-8B1D-1B72ABF2755A}" type="datetime1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7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CCB44-71D8-4C37-885A-893DDA521A33}" type="datetime1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3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610A1-85E8-4A20-931B-00616D7706D2}" type="datetime1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40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47B33-16AC-4379-AC36-95F28CAEDC7E}" type="datetime1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6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5E27-E316-4437-A2CF-4BB50FE43ADA}" type="datetime1">
              <a:rPr lang="en-US" smtClean="0"/>
              <a:t>2/21/2020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67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72BAF-9B27-431F-B34C-1FD2FF80792C}" type="datetime1">
              <a:rPr lang="en-US" smtClean="0"/>
              <a:t>2/21/2020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33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F3B3-06D3-4BAF-9A23-E095BDE773FE}" type="datetime1">
              <a:rPr lang="en-US" smtClean="0"/>
              <a:t>2/21/2020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2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22BC3-65CD-4017-9878-52508F3F38C6}" type="datetime1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9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9BE7A-1E4D-428F-AEC5-3B260CE553CD}" type="datetime1">
              <a:rPr lang="en-US" smtClean="0"/>
              <a:t>2/21/2020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4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6606F-A857-4082-88B7-02C8EEAFFB72}" type="datetime1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3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64C5A-B7A1-474F-A6E3-B12A88E89DFB}" type="datetime1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6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8950" y="-87315"/>
            <a:ext cx="8026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950" y="1346200"/>
            <a:ext cx="8026400" cy="4902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31CB4-16FB-47CD-8457-2EEB0EF252B5}" type="datetime1">
              <a:rPr lang="en-US" smtClean="0"/>
              <a:t>2/21/2020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EBBDA-6239-48A4-BF42-145536EA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5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789609"/>
            <a:ext cx="6858000" cy="2387600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Neural Networks </a:t>
            </a:r>
            <a:br>
              <a:rPr lang="en-US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Word2vec - GloVe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Trần Hữu Thúy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CD7A4-1B8E-4C56-BA07-61E1DDFB0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3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Tổng quan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Thế nào là 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truyền thẳng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truyền thẳng – feedforward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lan truyền ng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Word2vec là gì 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Skip-gram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CBOW</a:t>
            </a:r>
            <a:br>
              <a:rPr lang="en-US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EC63D-E710-43AC-9449-4E48FE57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4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Thế nào là mạng n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ron ?</a:t>
            </a:r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DA03DB20-0BF1-44B5-8DCD-8EFEA21DD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81" y="1238248"/>
            <a:ext cx="7747469" cy="29890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41DB5A-DA5A-4C56-AC92-E12893987F38}"/>
              </a:ext>
            </a:extLst>
          </p:cNvPr>
          <p:cNvSpPr txBox="1"/>
          <p:nvPr/>
        </p:nvSpPr>
        <p:spPr>
          <a:xfrm>
            <a:off x="907581" y="4837043"/>
            <a:ext cx="8011132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Dendrites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: gồm các tua nhận tín hiệu sinh điện từ các tế báo thần kinh khác.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Soma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: nhân tế bào dùng để tổng hợp các tín hiệu thu đ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ợc từ các tua.</a:t>
            </a:r>
          </a:p>
          <a:p>
            <a:pPr>
              <a:lnSpc>
                <a:spcPct val="15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Axon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: đ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ờng ra tín hiệu sau khi xử lý, tổng hợp trong nhân tết bào,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C28301-11CD-4CFC-B175-2186C83F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51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Thế nào là mạng n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ron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41DB5A-DA5A-4C56-AC92-E12893987F38}"/>
              </a:ext>
            </a:extLst>
          </p:cNvPr>
          <p:cNvSpPr txBox="1"/>
          <p:nvPr/>
        </p:nvSpPr>
        <p:spPr>
          <a:xfrm>
            <a:off x="775059" y="4687711"/>
            <a:ext cx="8011132" cy="1144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Đầu vào là vector x,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∑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là hàm tổng hợp, f là hàm truyền, y là kết quả đầu ra.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dự đoán với hàm tồng hợp là tuyến tính tuyến tính :</a:t>
            </a:r>
          </a:p>
        </p:txBody>
      </p:sp>
      <p:pic>
        <p:nvPicPr>
          <p:cNvPr id="8" name="Content Placeholder 7" descr="A picture containing clock&#10;&#10;Description automatically generated">
            <a:extLst>
              <a:ext uri="{FF2B5EF4-FFF2-40B4-BE49-F238E27FC236}">
                <a16:creationId xmlns:a16="http://schemas.microsoft.com/office/drawing/2014/main" id="{31C1994C-2FEA-4690-937F-8137C492E6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777" y="1729976"/>
            <a:ext cx="6058746" cy="307700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53AC84-A03D-47AD-B9AD-DE584AB0A747}"/>
              </a:ext>
            </a:extLst>
          </p:cNvPr>
          <p:cNvSpPr txBox="1"/>
          <p:nvPr/>
        </p:nvSpPr>
        <p:spPr>
          <a:xfrm>
            <a:off x="1172817" y="1238248"/>
            <a:ext cx="6798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Tế bào nhân tạo [ W. McCulloch và W. Pitts (1943) ]</a:t>
            </a:r>
          </a:p>
        </p:txBody>
      </p:sp>
      <p:pic>
        <p:nvPicPr>
          <p:cNvPr id="11" name="Picture 10" descr="A close up of a clock&#10;&#10;Description automatically generated">
            <a:extLst>
              <a:ext uri="{FF2B5EF4-FFF2-40B4-BE49-F238E27FC236}">
                <a16:creationId xmlns:a16="http://schemas.microsoft.com/office/drawing/2014/main" id="{149845BE-6620-4E7D-B2E9-D22831A657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531" y="5832704"/>
            <a:ext cx="4962834" cy="9052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AC4232-C076-4A7B-9678-9914B859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99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Thế nào là 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truyền thẳng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truyền thẳng – feedforward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lan truyền ng</a:t>
            </a:r>
            <a:r>
              <a:rPr lang="vi-VN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Word2vec là gì 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Skip-gram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CBOW</a:t>
            </a:r>
            <a:br>
              <a:rPr lang="en-US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E87C8-E549-4F78-8F38-D7029CFF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3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1BD-17C5-4D25-A750-C013EE3D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Mạng n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ron truyền thẳng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A9D67-8599-4C22-8C3A-D9DA36470B9C}"/>
              </a:ext>
            </a:extLst>
          </p:cNvPr>
          <p:cNvSpPr txBox="1"/>
          <p:nvPr/>
        </p:nvSpPr>
        <p:spPr>
          <a:xfrm>
            <a:off x="1020417" y="1238248"/>
            <a:ext cx="749493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Lớp vào : n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 nhận dữ liệu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Lớp ẩn : gồm các noron xử lý lý thông tin, dữ liệu từ lớp vào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Lớp ra : gồm các noron tạo tín hiệu ra cho mạng</a:t>
            </a:r>
          </a:p>
        </p:txBody>
      </p:sp>
      <p:pic>
        <p:nvPicPr>
          <p:cNvPr id="10" name="Content Placeholder 9" descr="A clock in the middle of a watch&#10;&#10;Description automatically generated">
            <a:extLst>
              <a:ext uri="{FF2B5EF4-FFF2-40B4-BE49-F238E27FC236}">
                <a16:creationId xmlns:a16="http://schemas.microsoft.com/office/drawing/2014/main" id="{6D30848D-B712-4BC3-B924-8DDABC769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794" y="3000622"/>
            <a:ext cx="6184411" cy="3209475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762EF4-D150-4494-A53D-FAF34350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44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1BD-17C5-4D25-A750-C013EE3D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Mạng n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ron truyền thẳng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089A2E-8CDC-423A-907E-C7BCE7553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10" y="1537525"/>
            <a:ext cx="7926180" cy="434425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1D1FE-7021-42A2-8692-59E7E989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99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1BD-17C5-4D25-A750-C013EE3D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Mạng n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ron truyền thẳng</a:t>
            </a:r>
          </a:p>
        </p:txBody>
      </p:sp>
      <p:pic>
        <p:nvPicPr>
          <p:cNvPr id="6" name="Content Placeholder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46229929-87CD-4E4D-982B-B1B291D41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322" y="1410384"/>
            <a:ext cx="7940177" cy="465911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30AA05-77DF-4BD7-A165-4374B1F2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2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1BD-17C5-4D25-A750-C013EE3D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Mạng n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 ron truyền thẳng</a:t>
            </a:r>
          </a:p>
        </p:txBody>
      </p:sp>
      <p:pic>
        <p:nvPicPr>
          <p:cNvPr id="7" name="Content Placeholder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D9338A7D-820E-4BBB-834E-CE231D1637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96" y="1502451"/>
            <a:ext cx="7536208" cy="467306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A3986B-F99D-4C2A-B15B-A53CAB51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5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Thế nào là 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truyền thẳng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truyền thẳng – feedforward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lan truyền ng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Word2vec là gì 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Skip-gram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CBOW</a:t>
            </a:r>
            <a:br>
              <a:rPr lang="en-US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5A181-23A9-4977-8BDE-614247D40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7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C1BD-17C5-4D25-A750-C013EE3D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lan truyền ng</a:t>
            </a:r>
            <a:r>
              <a:rPr lang="vi-VN" b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3F58A57-3EFF-4E0C-B2FE-1CE5B38EEB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950" y="1346200"/>
                <a:ext cx="8026400" cy="520037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 tập dữ liệu D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 với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Mạng noron học ánh xa f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sao cho lỗi là nhỏ nhất 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Hàm mục tiêu mean square error (MSE)</a:t>
                </a:r>
              </a:p>
              <a:p>
                <a:pPr>
                  <a:lnSpc>
                    <a:spcPct val="150000"/>
                  </a:lnSpc>
                </a:pPr>
                <a:endParaRPr 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 trọng số đ</a:t>
                </a:r>
                <a:r>
                  <a:rPr lang="vi-V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ợc cập nhật theo gradient descent </a:t>
                </a:r>
              </a:p>
              <a:p>
                <a:pPr marL="685800" lvl="2" indent="0">
                  <a:lnSpc>
                    <a:spcPct val="150000"/>
                  </a:lnSpc>
                  <a:buNone/>
                </a:pPr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lr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sz="2400" i="0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,w)</a:t>
                </a: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3F58A57-3EFF-4E0C-B2FE-1CE5B38EEB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950" y="1346200"/>
                <a:ext cx="8026400" cy="5200373"/>
              </a:xfrm>
              <a:blipFill>
                <a:blip r:embed="rId2"/>
                <a:stretch>
                  <a:fillRect l="-683" r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close up of a person&#10;&#10;Description automatically generated">
            <a:extLst>
              <a:ext uri="{FF2B5EF4-FFF2-40B4-BE49-F238E27FC236}">
                <a16:creationId xmlns:a16="http://schemas.microsoft.com/office/drawing/2014/main" id="{1F25A8E8-5DA6-4FD2-BD59-23CE09010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758" y="2805025"/>
            <a:ext cx="4039164" cy="124794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F6F45A-9C0A-42CE-81B1-36386173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33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Thế nào là 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truyền thẳng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truyền thẳng – feedforward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lan truyền ng</a:t>
            </a:r>
            <a:r>
              <a:rPr lang="vi-VN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Word2vec là gì 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Skip-gram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CBOW</a:t>
            </a:r>
            <a:br>
              <a:rPr lang="en-US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E0F1D-537F-4B39-9E08-7AE2DFBA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6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985F-7C50-42DE-B736-11FA08475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8F84A-8139-4307-AF03-80CEE15D0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50" y="1238248"/>
            <a:ext cx="7316580" cy="49021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Thuộc nhóm mô hình liên quan đến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sử dụng mạng noron.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ợc phát triển bởi kỹ s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Tomas Mikolov của Google năm 2013</a:t>
            </a:r>
          </a:p>
          <a:p>
            <a:pPr>
              <a:lnSpc>
                <a:spcPct val="150000"/>
              </a:lnSpc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Hai mô hình đ</a:t>
            </a:r>
            <a:r>
              <a:rPr lang="vi-VN" sz="20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ợc áp dụng : skip-gram, CBOW</a:t>
            </a:r>
          </a:p>
        </p:txBody>
      </p:sp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C10F32DE-D990-4D35-BC2E-37F13A848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60" y="3521765"/>
            <a:ext cx="7316580" cy="29585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D404BB-AF88-4564-ACE3-47A737063150}"/>
              </a:ext>
            </a:extLst>
          </p:cNvPr>
          <p:cNvSpPr txBox="1"/>
          <p:nvPr/>
        </p:nvSpPr>
        <p:spPr>
          <a:xfrm>
            <a:off x="2600326" y="4075389"/>
            <a:ext cx="2342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 ….   is eating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C1E86-E33D-412F-9B4D-C9D7014C72EE}"/>
              </a:ext>
            </a:extLst>
          </p:cNvPr>
          <p:cNvSpPr/>
          <p:nvPr/>
        </p:nvSpPr>
        <p:spPr>
          <a:xfrm>
            <a:off x="5055745" y="4106167"/>
            <a:ext cx="2069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222222"/>
                </a:solidFill>
                <a:latin typeface="Arial" panose="020B0604020202020204" pitchFamily="34" charset="0"/>
              </a:rPr>
              <a:t>ABC … … …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F3E87-F5BF-4FEF-8543-5DE2049A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Thế nào là 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Mạng n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 ron truyền thẳng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truyền thẳng – feedforward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thuật lan truyền ng</a:t>
            </a:r>
            <a:r>
              <a:rPr lang="vi-VN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Word2vec là gì 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Khái niệm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Skip-gram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CBOW</a:t>
            </a:r>
            <a:br>
              <a:rPr lang="en-US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9F762-65EA-4E48-8B60-03E2639AD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27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Skip-gram</a:t>
            </a:r>
          </a:p>
        </p:txBody>
      </p:sp>
      <p:pic>
        <p:nvPicPr>
          <p:cNvPr id="11" name="Content Placeholder 10" descr="A close up of a map&#10;&#10;Description automatically generated">
            <a:extLst>
              <a:ext uri="{FF2B5EF4-FFF2-40B4-BE49-F238E27FC236}">
                <a16:creationId xmlns:a16="http://schemas.microsoft.com/office/drawing/2014/main" id="{D56C050E-4AE9-4FDC-918D-B2F4018CE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45" y="1357516"/>
            <a:ext cx="8603412" cy="513604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C830A-387B-4E65-BFF0-AC957DB36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01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Skip-gram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041D04-78E1-4EE0-A60E-B964F8AB41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8950" y="1238248"/>
                <a:ext cx="8362950" cy="5365752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layout : word đã đ</a:t>
                </a:r>
                <a:r>
                  <a:rPr lang="vi-VN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ợc vector hóa thành v hàng theo one-hot-vector, có kích th</a:t>
                </a:r>
                <a:r>
                  <a:rPr lang="vi-VN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ớc đúng bằng kích th</a:t>
                </a:r>
                <a:r>
                  <a:rPr lang="vi-VN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ớc V của từ điển.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Hidden Layout chứa N n</a:t>
                </a:r>
                <a:r>
                  <a:rPr lang="vi-V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ơ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ron với hàm tổng hợp là hàm tuyến tính.</a:t>
                </a:r>
              </a:p>
              <a:p>
                <a:pPr marL="1028700" lvl="3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h𝑖𝑛</m:t>
                        </m:r>
                      </m:sub>
                    </m:sSub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 v * W  , W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Layout cần đ</a:t>
                </a:r>
                <a:r>
                  <a:rPr lang="vi-VN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ra xác xuất tương đồng của input so với mỗi word trong từ điển, do đó hàm đ</a:t>
                </a:r>
                <a:r>
                  <a:rPr lang="vi-VN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ợc sử dụng là softmax.</a:t>
                </a:r>
              </a:p>
              <a:p>
                <a:pPr marL="342900" lvl="1" indent="0">
                  <a:lnSpc>
                    <a:spcPct val="150000"/>
                  </a:lnSpc>
                  <a:buNone/>
                </a:pPr>
                <a:r>
                  <a:rPr lang="en-US" sz="1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u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h𝑖𝑛</m:t>
                        </m:r>
                      </m:sub>
                    </m:sSub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u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 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>
                        <a:latin typeface="Cambria Math" panose="02040503050406030204" pitchFamily="18" charset="0"/>
                      </a:rPr>
                      <m:t> ∈</m:t>
                    </m:r>
                  </m:oMath>
                </a14:m>
                <a:r>
                  <a:rPr lang="en-US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endParaRPr lang="en-US"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lnSpc>
                    <a:spcPct val="150000"/>
                  </a:lnSpc>
                  <a:buNone/>
                </a:pP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Xác xuất của word t</a:t>
                </a:r>
                <a:r>
                  <a:rPr lang="vi-VN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ư</a:t>
                </a:r>
                <a:r>
                  <a:rPr lang="en-US" sz="2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ơng đồng với từng word trong từ điển</a:t>
                </a:r>
              </a:p>
              <a:p>
                <a:pPr marL="342900" lvl="1" indent="0">
                  <a:lnSpc>
                    <a:spcPct val="150000"/>
                  </a:lnSpc>
                  <a:buNone/>
                </a:pPr>
                <a:r>
                  <a:rPr 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1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1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1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3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sz="31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10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sz="31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sz="3100" i="1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sSub>
                              <m:sSubPr>
                                <m:ctrlPr>
                                  <a:rPr lang="en-US" sz="3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1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31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31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 lvl="2" indent="0">
                  <a:lnSpc>
                    <a:spcPct val="150000"/>
                  </a:lnSpc>
                  <a:buNone/>
                </a:pPr>
                <a:endParaRPr 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685800" lvl="2" indent="0">
                  <a:lnSpc>
                    <a:spcPct val="150000"/>
                  </a:lnSpc>
                  <a:buNone/>
                </a:pPr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685800" lvl="2" indent="0">
                  <a:lnSpc>
                    <a:spcPct val="150000"/>
                  </a:lnSpc>
                  <a:buNone/>
                </a:pPr>
                <a:r>
                  <a:rPr lang="en-US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9041D04-78E1-4EE0-A60E-B964F8AB41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8950" y="1238248"/>
                <a:ext cx="8362950" cy="5365752"/>
              </a:xfrm>
              <a:blipFill>
                <a:blip r:embed="rId2"/>
                <a:stretch>
                  <a:fillRect l="-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219DDE-C9D5-4B8E-9CC5-BC4D3CD5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9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45ACB4-1A77-4176-8264-E5D11BAA7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BBDA-6239-48A4-BF42-145536EAE284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6E7B7-9FC8-4228-A1BD-9AAFC861B6E0}"/>
              </a:ext>
            </a:extLst>
          </p:cNvPr>
          <p:cNvSpPr txBox="1"/>
          <p:nvPr/>
        </p:nvSpPr>
        <p:spPr>
          <a:xfrm>
            <a:off x="1855304" y="3044279"/>
            <a:ext cx="638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latin typeface="Arial" panose="020B0604020202020204" pitchFamily="34" charset="0"/>
                <a:cs typeface="Arial" panose="020B0604020202020204" pitchFamily="34" charset="0"/>
              </a:rPr>
              <a:t>Thanks for listenning </a:t>
            </a:r>
          </a:p>
        </p:txBody>
      </p:sp>
    </p:spTree>
    <p:extLst>
      <p:ext uri="{BB962C8B-B14F-4D97-AF65-F5344CB8AC3E}">
        <p14:creationId xmlns:p14="http://schemas.microsoft.com/office/powerpoint/2010/main" val="315858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A4D7F9D-CF2C-4E80-8360-F21AE36D35D4}" vid="{71563601-04E0-4A9A-AE8B-FC38A55497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259</TotalTime>
  <Words>663</Words>
  <Application>Microsoft Office PowerPoint</Application>
  <PresentationFormat>On-screen Show (4:3)</PresentationFormat>
  <Paragraphs>102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Neural Networks  Word2vec - GloVe</vt:lpstr>
      <vt:lpstr>Tổng quan</vt:lpstr>
      <vt:lpstr>Thế nào là mạng nơ ron ?</vt:lpstr>
      <vt:lpstr>Thế nào là mạng nơ ron ?</vt:lpstr>
      <vt:lpstr>PowerPoint Presentation</vt:lpstr>
      <vt:lpstr>Mạng nơ ron truyền thẳng</vt:lpstr>
      <vt:lpstr>Mạng nơ ron truyền thẳng</vt:lpstr>
      <vt:lpstr>Mạng nơ ron truyền thẳng</vt:lpstr>
      <vt:lpstr>Mạng nơ ron truyền thẳng</vt:lpstr>
      <vt:lpstr>PowerPoint Presentation</vt:lpstr>
      <vt:lpstr>Giải thuật lan truyền ngược</vt:lpstr>
      <vt:lpstr>PowerPoint Presentation</vt:lpstr>
      <vt:lpstr>Khái niệm</vt:lpstr>
      <vt:lpstr>PowerPoint Presentation</vt:lpstr>
      <vt:lpstr>Skip-gram</vt:lpstr>
      <vt:lpstr>Skip-gram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Hang</dc:creator>
  <cp:lastModifiedBy>Thuy Tran</cp:lastModifiedBy>
  <cp:revision>29</cp:revision>
  <dcterms:created xsi:type="dcterms:W3CDTF">2016-07-25T07:53:11Z</dcterms:created>
  <dcterms:modified xsi:type="dcterms:W3CDTF">2020-02-21T14:49:52Z</dcterms:modified>
</cp:coreProperties>
</file>